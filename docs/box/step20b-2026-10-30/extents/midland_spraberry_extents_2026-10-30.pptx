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" y="300000"/>
            <a:ext cx="2507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Midland MS</a:t>
            </a:r>
          </a:p>
          <a:p>
            <a:pPr>
              <a:defRPr sz="1100" b="0"/>
            </a:pPr>
            <a:r>
              <a:t>generated one-body D27 extent: 2,389 sq mi</a:t>
            </a:r>
          </a:p>
          <a:p>
            <a:pPr>
              <a:defRPr sz="1100" b="0"/>
            </a:pPr>
            <a:r>
              <a:t>&gt;= 2016 laterals: 1,615; inside 1,573</a:t>
            </a:r>
          </a:p>
          <a:p>
            <a:pPr>
              <a:defRPr sz="1100" b="0"/>
            </a:pPr>
            <a:r>
              <a:t>bodies &gt;= 50 laterals: 1 (dashed; body 1 = the D27 body)</a:t>
            </a:r>
          </a:p>
          <a:p>
            <a:pPr>
              <a:defRPr sz="1100" b="0"/>
            </a:pPr>
            <a:r>
              <a:t>isolated tests out: 42</a:t>
            </a:r>
          </a:p>
          <a:p>
            <a:pPr>
              <a:defRPr sz="800" b="0"/>
            </a:pPr>
          </a:p>
          <a:p>
            <a:pPr>
              <a:defRPr sz="1100" b="1"/>
            </a:pPr>
            <a:r>
              <a:t>Edits (pen or freeform, red):</a:t>
            </a:r>
          </a:p>
          <a:p>
            <a:pPr>
              <a:defRPr sz="1100" b="0"/>
            </a:pPr>
            <a:r>
              <a:t>your closed loops ARE the extent</a:t>
            </a:r>
          </a:p>
          <a:p>
            <a:pPr>
              <a:defRPr sz="1100" b="0"/>
            </a:pPr>
            <a:r>
              <a:t>(the black outline is ignored)</a:t>
            </a:r>
          </a:p>
          <a:p>
            <a:pPr>
              <a:defRPr sz="1100" b="0"/>
            </a:pPr>
            <a:r>
              <a:t>no drawing = accept as generated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J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" y="300000"/>
            <a:ext cx="2507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Midland JM</a:t>
            </a:r>
          </a:p>
          <a:p>
            <a:pPr>
              <a:defRPr sz="1100" b="0"/>
            </a:pPr>
            <a:r>
              <a:t>generated one-body D27 extent: 2,769 sq mi</a:t>
            </a:r>
          </a:p>
          <a:p>
            <a:pPr>
              <a:defRPr sz="1100" b="0"/>
            </a:pPr>
            <a:r>
              <a:t>&gt;= 2016 laterals: 1,612; inside 1,587</a:t>
            </a:r>
          </a:p>
          <a:p>
            <a:pPr>
              <a:defRPr sz="1100" b="0"/>
            </a:pPr>
            <a:r>
              <a:t>bodies &gt;= 50 laterals: 1 (dashed; body 1 = the D27 body)</a:t>
            </a:r>
          </a:p>
          <a:p>
            <a:pPr>
              <a:defRPr sz="1100" b="0"/>
            </a:pPr>
            <a:r>
              <a:t>isolated tests out: 28</a:t>
            </a:r>
          </a:p>
          <a:p>
            <a:pPr>
              <a:defRPr sz="800" b="0"/>
            </a:pPr>
          </a:p>
          <a:p>
            <a:pPr>
              <a:defRPr sz="1100" b="1"/>
            </a:pPr>
            <a:r>
              <a:t>Edits (pen or freeform, red):</a:t>
            </a:r>
          </a:p>
          <a:p>
            <a:pPr>
              <a:defRPr sz="1100" b="0"/>
            </a:pPr>
            <a:r>
              <a:t>your closed loops ARE the extent</a:t>
            </a:r>
          </a:p>
          <a:p>
            <a:pPr>
              <a:defRPr sz="1100" b="0"/>
            </a:pPr>
            <a:r>
              <a:t>(the black outline is ignored)</a:t>
            </a:r>
          </a:p>
          <a:p>
            <a:pPr>
              <a:defRPr sz="1100" b="0"/>
            </a:pPr>
            <a:r>
              <a:t>no drawing = accept as generated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S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" y="300000"/>
            <a:ext cx="2507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Midland LSSH</a:t>
            </a:r>
          </a:p>
          <a:p>
            <a:pPr>
              <a:defRPr sz="1100" b="0"/>
            </a:pPr>
            <a:r>
              <a:t>generated one-body D27 extent: 4,055 sq mi</a:t>
            </a:r>
          </a:p>
          <a:p>
            <a:pPr>
              <a:defRPr sz="1100" b="0"/>
            </a:pPr>
            <a:r>
              <a:t>&gt;= 2016 laterals: 5,498; inside 5,465</a:t>
            </a:r>
          </a:p>
          <a:p>
            <a:pPr>
              <a:defRPr sz="1100" b="0"/>
            </a:pPr>
            <a:r>
              <a:t>bodies &gt;= 50 laterals: 1 (dashed; body 1 = the D27 body)</a:t>
            </a:r>
          </a:p>
          <a:p>
            <a:pPr>
              <a:defRPr sz="1100" b="0"/>
            </a:pPr>
            <a:r>
              <a:t>isolated tests out: 33</a:t>
            </a:r>
          </a:p>
          <a:p>
            <a:pPr>
              <a:defRPr sz="800" b="0"/>
            </a:pPr>
          </a:p>
          <a:p>
            <a:pPr>
              <a:defRPr sz="1100" b="1"/>
            </a:pPr>
            <a:r>
              <a:t>Edits (pen or freeform, red):</a:t>
            </a:r>
          </a:p>
          <a:p>
            <a:pPr>
              <a:defRPr sz="1100" b="0"/>
            </a:pPr>
            <a:r>
              <a:t>your closed loops ARE the extent</a:t>
            </a:r>
          </a:p>
          <a:p>
            <a:pPr>
              <a:defRPr sz="1100" b="0"/>
            </a:pPr>
            <a:r>
              <a:t>(the black outline is ignored)</a:t>
            </a:r>
          </a:p>
          <a:p>
            <a:pPr>
              <a:defRPr sz="1100" b="0"/>
            </a:pPr>
            <a:r>
              <a:t>no drawing = accept as generated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D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" y="300000"/>
            <a:ext cx="2507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Midland DEAN</a:t>
            </a:r>
          </a:p>
          <a:p>
            <a:pPr>
              <a:defRPr sz="1100" b="0"/>
            </a:pPr>
            <a:r>
              <a:t>generated D27 body: 1,151 sq mi, FAILS one-body (284 developed laterals out)</a:t>
            </a:r>
          </a:p>
          <a:p>
            <a:pPr>
              <a:defRPr sz="1100" b="0"/>
            </a:pPr>
            <a:r>
              <a:t>&gt;= 2016 laterals: 908; inside 624</a:t>
            </a:r>
          </a:p>
          <a:p>
            <a:pPr>
              <a:defRPr sz="1100" b="0"/>
            </a:pPr>
            <a:r>
              <a:t>bodies &gt;= 50 laterals: 2 (dashed; body 1 = the D27 body)</a:t>
            </a:r>
          </a:p>
          <a:p>
            <a:pPr>
              <a:defRPr sz="1100" b="0"/>
            </a:pPr>
            <a:r>
              <a:t>isolated tests out: 289</a:t>
            </a:r>
          </a:p>
          <a:p>
            <a:pPr>
              <a:defRPr sz="800" b="0"/>
            </a:pPr>
          </a:p>
          <a:p>
            <a:pPr>
              <a:defRPr sz="1100" b="1"/>
            </a:pPr>
            <a:r>
              <a:t>Edits (pen or freeform, red):</a:t>
            </a:r>
          </a:p>
          <a:p>
            <a:pPr>
              <a:defRPr sz="1100" b="0"/>
            </a:pPr>
            <a:r>
              <a:t>your closed loops ARE the extent</a:t>
            </a:r>
          </a:p>
          <a:p>
            <a:pPr>
              <a:defRPr sz="1100" b="0"/>
            </a:pPr>
            <a:r>
              <a:t>(the black outline is ignored)</a:t>
            </a:r>
          </a:p>
          <a:p>
            <a:pPr>
              <a:defRPr sz="1100" b="0"/>
            </a:pPr>
            <a:r>
              <a:t>no drawing = accept as generated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
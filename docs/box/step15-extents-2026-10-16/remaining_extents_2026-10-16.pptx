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BS2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BS2_C</a:t>
            </a:r>
          </a:p>
          <a:p>
            <a:pPr>
              <a:defRPr sz="1100" b="0"/>
            </a:pPr>
            <a:r>
              <a:t>generated one-body D27 extent: 1,083 sq mi</a:t>
            </a:r>
          </a:p>
          <a:p>
            <a:pPr>
              <a:defRPr sz="1100" b="0"/>
            </a:pPr>
            <a:r>
              <a:t>&gt;= 2016 laterals: 650; inside 367</a:t>
            </a:r>
          </a:p>
          <a:p>
            <a:pPr>
              <a:defRPr sz="1100" b="0"/>
            </a:pPr>
            <a:r>
              <a:t>bodies &gt;= 50 laterals: 3 (dashed; body 1 = the D27 body)</a:t>
            </a:r>
          </a:p>
          <a:p>
            <a:pPr>
              <a:defRPr sz="1100" b="0"/>
            </a:pPr>
            <a:r>
              <a:t>isolated tests out: 297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WCB_1</a:t>
            </a:r>
          </a:p>
          <a:p>
            <a:pPr>
              <a:defRPr sz="1100" b="0"/>
            </a:pPr>
            <a:r>
              <a:t>generated one-body D27 extent: 3,921 sq mi</a:t>
            </a:r>
          </a:p>
          <a:p>
            <a:pPr>
              <a:defRPr sz="1100" b="0"/>
            </a:pPr>
            <a:r>
              <a:t>&gt;= 2016 laterals: 1,664; inside 1,580</a:t>
            </a:r>
          </a:p>
          <a:p>
            <a:pPr>
              <a:defRPr sz="1100" b="0"/>
            </a:pPr>
            <a:r>
              <a:t>bodies &gt;= 50 laterals: 2 (dashed; body 1 = the D27 body)</a:t>
            </a:r>
          </a:p>
          <a:p>
            <a:pPr>
              <a:defRPr sz="1100" b="0"/>
            </a:pPr>
            <a:r>
              <a:t>isolated tests out: 111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B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WCB_2</a:t>
            </a:r>
          </a:p>
          <a:p>
            <a:pPr>
              <a:defRPr sz="1100" b="0"/>
            </a:pPr>
            <a:r>
              <a:t>generated one-body D27 extent: 1,624 sq mi</a:t>
            </a:r>
          </a:p>
          <a:p>
            <a:pPr>
              <a:defRPr sz="1100" b="0"/>
            </a:pPr>
            <a:r>
              <a:t>&gt;= 2016 laterals: 1,090; inside 507</a:t>
            </a:r>
          </a:p>
          <a:p>
            <a:pPr>
              <a:defRPr sz="1100" b="0"/>
            </a:pPr>
            <a:r>
              <a:t>bodies &gt;= 50 laterals: 4 (dashed; body 1 = the D27 body)</a:t>
            </a:r>
          </a:p>
          <a:p>
            <a:pPr>
              <a:defRPr sz="1100" b="0"/>
            </a:pPr>
            <a:r>
              <a:t>isolated tests out: 601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BS1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BS1_S</a:t>
            </a:r>
          </a:p>
          <a:p>
            <a:pPr>
              <a:defRPr sz="1100" b="0"/>
            </a:pPr>
            <a:r>
              <a:t>generated one-body D27 extent: 1,535 sq mi</a:t>
            </a:r>
          </a:p>
          <a:p>
            <a:pPr>
              <a:defRPr sz="1100" b="0"/>
            </a:pPr>
            <a:r>
              <a:t>&gt;= 2016 laterals: 962; inside 777</a:t>
            </a:r>
          </a:p>
          <a:p>
            <a:pPr>
              <a:defRPr sz="1100" b="0"/>
            </a:pPr>
            <a:r>
              <a:t>bodies &gt;= 50 laterals: 2 (dashed; body 1 = the D27 body)</a:t>
            </a:r>
          </a:p>
          <a:p>
            <a:pPr>
              <a:defRPr sz="1100" b="0"/>
            </a:pPr>
            <a:r>
              <a:t>isolated tests out: 190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WCC</a:t>
            </a:r>
          </a:p>
          <a:p>
            <a:pPr>
              <a:defRPr sz="1100" b="0"/>
            </a:pPr>
            <a:r>
              <a:t>generated one-body D27 extent: 1,455 sq mi</a:t>
            </a:r>
          </a:p>
          <a:p>
            <a:pPr>
              <a:defRPr sz="1100" b="0"/>
            </a:pPr>
            <a:r>
              <a:t>&gt;= 2016 laterals: 923; inside 751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183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AVA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AVA_0</a:t>
            </a:r>
          </a:p>
          <a:p>
            <a:pPr>
              <a:defRPr sz="1100" b="0"/>
            </a:pPr>
            <a:r>
              <a:t>generated one-body D27 extent: 259 sq mi</a:t>
            </a:r>
          </a:p>
          <a:p>
            <a:pPr>
              <a:defRPr sz="1100" b="0"/>
            </a:pPr>
            <a:r>
              <a:t>&gt;= 2016 laterals: 221; inside 202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19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AV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AVA_1</a:t>
            </a:r>
          </a:p>
          <a:p>
            <a:pPr>
              <a:defRPr sz="1100" b="0"/>
            </a:pPr>
            <a:r>
              <a:t>generated one-body D27 extent: 548 sq mi</a:t>
            </a:r>
          </a:p>
          <a:p>
            <a:pPr>
              <a:defRPr sz="1100" b="0"/>
            </a:pPr>
            <a:r>
              <a:t>&gt;= 2016 laterals: 493; inside 409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84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AV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AVA_2</a:t>
            </a:r>
          </a:p>
          <a:p>
            <a:pPr>
              <a:defRPr sz="1100" b="0"/>
            </a:pPr>
            <a:r>
              <a:t>generated one-body D27 extent: 624 sq mi</a:t>
            </a:r>
          </a:p>
          <a:p>
            <a:pPr>
              <a:defRPr sz="1100" b="0"/>
            </a:pPr>
            <a:r>
              <a:t>&gt;= 2016 laterals: 333; inside 298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35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WCD</a:t>
            </a:r>
          </a:p>
          <a:p>
            <a:pPr>
              <a:defRPr sz="1100" b="0"/>
            </a:pPr>
            <a:r>
              <a:t>generated one-body D27 extent: 209 sq mi</a:t>
            </a:r>
          </a:p>
          <a:p>
            <a:pPr>
              <a:defRPr sz="1100" b="0"/>
            </a:pPr>
            <a:r>
              <a:t>&gt;= 2016 laterals: 150; inside 56</a:t>
            </a:r>
          </a:p>
          <a:p>
            <a:pPr>
              <a:defRPr sz="1100" b="0"/>
            </a:pPr>
            <a:r>
              <a:t>bodies &gt;= 50 laterals: 0 (dashed; body 1 = the D27 body)</a:t>
            </a:r>
          </a:p>
          <a:p>
            <a:pPr>
              <a:defRPr sz="1100" b="0"/>
            </a:pPr>
            <a:r>
              <a:t>isolated tests out: 94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Draw edits as red freeforms:</a:t>
            </a:r>
          </a:p>
          <a:p>
            <a:pPr>
              <a:defRPr sz="1100" b="0"/>
            </a:pPr>
            <a:r>
              <a:t>outside the black outline = add</a:t>
            </a:r>
          </a:p>
          <a:p>
            <a:pPr>
              <a:defRPr sz="1100" b="0"/>
            </a:pPr>
            <a:r>
              <a:t>inside = cut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